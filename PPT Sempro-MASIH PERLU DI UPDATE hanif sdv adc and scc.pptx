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5"/>
  </p:sldMasterIdLst>
  <p:notesMasterIdLst>
    <p:notesMasterId r:id="rId16"/>
  </p:notesMasterIdLst>
  <p:handoutMasterIdLst>
    <p:handoutMasterId r:id="rId17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F1C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412" autoAdjust="0"/>
  </p:normalViewPr>
  <p:slideViewPr>
    <p:cSldViewPr snapToGrid="0" snapToObjects="1">
      <p:cViewPr varScale="1">
        <p:scale>
          <a:sx n="95" d="100"/>
          <a:sy n="95" d="100"/>
        </p:scale>
        <p:origin x="1194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F726AF-69CB-4F0C-87C2-95E71E200495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tr-TR" sz="1100" u="sng">
                <a:solidFill>
                  <a:srgbClr val="000000"/>
                </a:solidFill>
                <a:latin typeface="Calibri" panose="020F0502020204030204" pitchFamily="34" charset="0"/>
              </a:rPr>
              <a:t>UNCLASSIFIED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D9468-F212-4EEA-B9E1-F23E4BC43A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7CE3A-102E-4888-A6E4-9908200E14BB}" type="datetimeFigureOut">
              <a:rPr lang="tr-TR" smtClean="0"/>
              <a:t>24.06.2026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BC41D-6157-4DA9-9749-3D2212BA30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38390-516F-4A09-B542-D126177885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22BE1-7A1F-4087-971D-DB4C586F4C0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643986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35994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1892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2454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5469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7696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0284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3499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7116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0729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0616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0781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ilding with a sign on it&#10;&#10;AI-generated content may be incorrect.">
            <a:extLst>
              <a:ext uri="{FF2B5EF4-FFF2-40B4-BE49-F238E27FC236}">
                <a16:creationId xmlns:a16="http://schemas.microsoft.com/office/drawing/2014/main" id="{3199F34F-32F1-064E-3921-8C39C1534D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2"/>
          <a:stretch>
            <a:fillRect/>
          </a:stretch>
        </p:blipFill>
        <p:spPr>
          <a:xfrm>
            <a:off x="0" y="2006600"/>
            <a:ext cx="4421298" cy="4851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A1F7EAD-E902-BD40-CE36-04488C3A70C4}"/>
              </a:ext>
            </a:extLst>
          </p:cNvPr>
          <p:cNvSpPr/>
          <p:nvPr/>
        </p:nvSpPr>
        <p:spPr>
          <a:xfrm flipV="1">
            <a:off x="0" y="5074919"/>
            <a:ext cx="12192000" cy="1783073"/>
          </a:xfrm>
          <a:prstGeom prst="rect">
            <a:avLst/>
          </a:prstGeom>
          <a:gradFill flip="none" rotWithShape="1">
            <a:gsLst>
              <a:gs pos="2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jalla One" panose="02000506040000020004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8E06B0-0C20-3F94-5B91-81B628DF73BE}"/>
              </a:ext>
            </a:extLst>
          </p:cNvPr>
          <p:cNvGrpSpPr/>
          <p:nvPr/>
        </p:nvGrpSpPr>
        <p:grpSpPr>
          <a:xfrm>
            <a:off x="6096000" y="6528817"/>
            <a:ext cx="6126480" cy="658366"/>
            <a:chOff x="6566098" y="6529395"/>
            <a:chExt cx="5625902" cy="658365"/>
          </a:xfrm>
        </p:grpSpPr>
        <p:sp>
          <p:nvSpPr>
            <p:cNvPr id="10" name="Partial Circle 9">
              <a:extLst>
                <a:ext uri="{FF2B5EF4-FFF2-40B4-BE49-F238E27FC236}">
                  <a16:creationId xmlns:a16="http://schemas.microsoft.com/office/drawing/2014/main" id="{004E209E-AC79-0985-250F-E26F2559B545}"/>
                </a:ext>
              </a:extLst>
            </p:cNvPr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Fjalla One" panose="02000506040000020004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D43C20-B65B-16FB-C73D-71DF96B4E9A0}"/>
                </a:ext>
              </a:extLst>
            </p:cNvPr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Fjalla One" panose="02000506040000020004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395D80-5CCD-947B-7171-2F036A533208}"/>
              </a:ext>
            </a:extLst>
          </p:cNvPr>
          <p:cNvGrpSpPr/>
          <p:nvPr/>
        </p:nvGrpSpPr>
        <p:grpSpPr>
          <a:xfrm flipH="1">
            <a:off x="0" y="6527465"/>
            <a:ext cx="6126480" cy="658366"/>
            <a:chOff x="6566098" y="6529395"/>
            <a:chExt cx="5625902" cy="658365"/>
          </a:xfrm>
        </p:grpSpPr>
        <p:sp>
          <p:nvSpPr>
            <p:cNvPr id="13" name="Partial Circle 12">
              <a:extLst>
                <a:ext uri="{FF2B5EF4-FFF2-40B4-BE49-F238E27FC236}">
                  <a16:creationId xmlns:a16="http://schemas.microsoft.com/office/drawing/2014/main" id="{86AE163D-D4FE-52C2-74FD-88F787483851}"/>
                </a:ext>
              </a:extLst>
            </p:cNvPr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Fjalla One" panose="02000506040000020004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6B0687E-2535-24C6-5A07-69BC36F7327F}"/>
                </a:ext>
              </a:extLst>
            </p:cNvPr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Fjalla One" panose="02000506040000020004" pitchFamily="2" charset="0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2BC6F762-5981-234E-BC06-DD0DB449905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5456" y="6199634"/>
            <a:ext cx="5619271" cy="289727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D9E0989-B3FC-6699-1685-DD89CFC9A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0544" y="1702118"/>
            <a:ext cx="6997585" cy="1726882"/>
          </a:xfrm>
          <a:prstGeom prst="rect">
            <a:avLst/>
          </a:prstGeom>
        </p:spPr>
        <p:txBody>
          <a:bodyPr/>
          <a:lstStyle>
            <a:lvl1pPr>
              <a:defRPr>
                <a:latin typeface="Fjalla One" panose="02000506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69EA522B-C504-2FC2-2440-114A7655F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0544" y="3468456"/>
            <a:ext cx="6997585" cy="11975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400">
                <a:latin typeface="Fjalla One" panose="02000506040000020004" pitchFamily="2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9" name="Picture 18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71CC565B-0D5A-484A-6006-C773CC5B8CD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974" y="223035"/>
            <a:ext cx="1009522" cy="34553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9CAB7D3-2285-15E6-CFA8-E361D675C025}"/>
              </a:ext>
            </a:extLst>
          </p:cNvPr>
          <p:cNvGrpSpPr/>
          <p:nvPr/>
        </p:nvGrpSpPr>
        <p:grpSpPr>
          <a:xfrm>
            <a:off x="9095083" y="113327"/>
            <a:ext cx="2709943" cy="503420"/>
            <a:chOff x="9320766" y="88308"/>
            <a:chExt cx="2709943" cy="503420"/>
          </a:xfrm>
        </p:grpSpPr>
        <p:pic>
          <p:nvPicPr>
            <p:cNvPr id="25" name="Picture 24" descr="A yellow text on a black background&#10;&#10;AI-generated content may be incorrect.">
              <a:extLst>
                <a:ext uri="{FF2B5EF4-FFF2-40B4-BE49-F238E27FC236}">
                  <a16:creationId xmlns:a16="http://schemas.microsoft.com/office/drawing/2014/main" id="{0F43EB1E-9021-F98A-5B79-2E59893B5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</p:spPr>
        </p:pic>
        <p:pic>
          <p:nvPicPr>
            <p:cNvPr id="26" name="Picture 25" descr="A person holding a microphone&#10;&#10;AI-generated content may be incorrect.">
              <a:extLst>
                <a:ext uri="{FF2B5EF4-FFF2-40B4-BE49-F238E27FC236}">
                  <a16:creationId xmlns:a16="http://schemas.microsoft.com/office/drawing/2014/main" id="{C95B85D1-0F28-70BF-000A-A9E33286B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20766" y="88308"/>
              <a:ext cx="1404190" cy="503420"/>
            </a:xfrm>
            <a:prstGeom prst="rect">
              <a:avLst/>
            </a:prstGeom>
          </p:spPr>
        </p:pic>
      </p:grpSp>
      <p:pic>
        <p:nvPicPr>
          <p:cNvPr id="21" name="Picture 20" descr="A black background with yellow and grey text&#10;&#10;AI-generated content may be incorrect.">
            <a:extLst>
              <a:ext uri="{FF2B5EF4-FFF2-40B4-BE49-F238E27FC236}">
                <a16:creationId xmlns:a16="http://schemas.microsoft.com/office/drawing/2014/main" id="{CEF29C67-E177-D2CA-1534-25E22A3F43C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2717" y="154187"/>
            <a:ext cx="1930400" cy="48322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C29B992-94FC-184B-DBDD-63B8B8732DF7}"/>
              </a:ext>
            </a:extLst>
          </p:cNvPr>
          <p:cNvGrpSpPr/>
          <p:nvPr userDrawn="1"/>
        </p:nvGrpSpPr>
        <p:grpSpPr>
          <a:xfrm>
            <a:off x="4421298" y="126998"/>
            <a:ext cx="3416617" cy="498680"/>
            <a:chOff x="4421298" y="126998"/>
            <a:chExt cx="3416617" cy="49868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BC469CD-F74E-C654-1267-16AB56B4ABF5}"/>
                </a:ext>
              </a:extLst>
            </p:cNvPr>
            <p:cNvSpPr txBox="1"/>
            <p:nvPr/>
          </p:nvSpPr>
          <p:spPr>
            <a:xfrm>
              <a:off x="5766211" y="222450"/>
              <a:ext cx="20717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i="0" dirty="0">
                  <a:solidFill>
                    <a:srgbClr val="996600"/>
                  </a:solidFill>
                  <a:latin typeface="+mj-lt"/>
                </a:rPr>
                <a:t>#InformatikaBerkarakter</a:t>
              </a:r>
            </a:p>
          </p:txBody>
        </p:sp>
        <p:pic>
          <p:nvPicPr>
            <p:cNvPr id="3" name="Picture 2" descr="A logo with a black background&#10;&#10;AI-generated content may be incorrect.">
              <a:extLst>
                <a:ext uri="{FF2B5EF4-FFF2-40B4-BE49-F238E27FC236}">
                  <a16:creationId xmlns:a16="http://schemas.microsoft.com/office/drawing/2014/main" id="{351EA200-87AA-0F57-DA8D-42FC936B16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304" t="24482" r="5732" b="30000"/>
            <a:stretch>
              <a:fillRect/>
            </a:stretch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219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3A2BDE-12BB-F900-712F-F96EC883AD8D}"/>
              </a:ext>
            </a:extLst>
          </p:cNvPr>
          <p:cNvSpPr/>
          <p:nvPr/>
        </p:nvSpPr>
        <p:spPr>
          <a:xfrm>
            <a:off x="-1" y="6465866"/>
            <a:ext cx="11608875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2C421-7784-4726-746A-E07E07152EBB}"/>
              </a:ext>
            </a:extLst>
          </p:cNvPr>
          <p:cNvSpPr/>
          <p:nvPr/>
        </p:nvSpPr>
        <p:spPr>
          <a:xfrm>
            <a:off x="11550146" y="6465525"/>
            <a:ext cx="64007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Picture 10" descr="A black background with yellow and grey text&#10;&#10;AI-generated content may be incorrect.">
            <a:extLst>
              <a:ext uri="{FF2B5EF4-FFF2-40B4-BE49-F238E27FC236}">
                <a16:creationId xmlns:a16="http://schemas.microsoft.com/office/drawing/2014/main" id="{F805D3DF-0BD2-E106-4835-62B4F684037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29" y="102870"/>
            <a:ext cx="2072555" cy="518813"/>
          </a:xfrm>
          <a:prstGeom prst="rect">
            <a:avLst/>
          </a:prstGeom>
        </p:spPr>
      </p:pic>
      <p:pic>
        <p:nvPicPr>
          <p:cNvPr id="14" name="Picture 13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4D3A9714-2B74-F0EA-234A-D6B699B311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304" t="24482" r="5732" b="30000"/>
          <a:stretch>
            <a:fillRect/>
          </a:stretch>
        </p:blipFill>
        <p:spPr>
          <a:xfrm>
            <a:off x="10717984" y="104158"/>
            <a:ext cx="1347134" cy="4986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CD9928-02F2-4305-4297-A1DFB8AE0B9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419" y="6542270"/>
            <a:ext cx="4674331" cy="241006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8E71573-79C9-85D7-702E-E5556C375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379" y="119924"/>
            <a:ext cx="7629240" cy="77359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>
                <a:latin typeface="Fjalla One" panose="02000506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E232F74-C1C6-0B06-9C7A-D8EBDCF66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487" y="1140496"/>
            <a:ext cx="5619127" cy="509419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Barlow" panose="000005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8" name="Picture 17" descr="A logo with a red and black letter u&#10;&#10;AI-generated content may be incorrect.">
            <a:extLst>
              <a:ext uri="{FF2B5EF4-FFF2-40B4-BE49-F238E27FC236}">
                <a16:creationId xmlns:a16="http://schemas.microsoft.com/office/drawing/2014/main" id="{8662DFD3-DA5F-A647-A00E-E8306506F4D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duotone>
              <a:prstClr val="black"/>
              <a:schemeClr val="tx2">
                <a:tint val="45000"/>
                <a:satMod val="400000"/>
              </a:schemeClr>
            </a:duotone>
            <a:alphaModFix amt="1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7743" y="1427758"/>
            <a:ext cx="2836514" cy="4002484"/>
          </a:xfrm>
          <a:prstGeom prst="rect">
            <a:avLst/>
          </a:prstGeom>
        </p:spPr>
      </p:pic>
      <p:sp>
        <p:nvSpPr>
          <p:cNvPr id="21" name="object 82">
            <a:extLst>
              <a:ext uri="{FF2B5EF4-FFF2-40B4-BE49-F238E27FC236}">
                <a16:creationId xmlns:a16="http://schemas.microsoft.com/office/drawing/2014/main" id="{A293EC42-B8C9-FCB1-2E11-55A042217587}"/>
              </a:ext>
            </a:extLst>
          </p:cNvPr>
          <p:cNvSpPr txBox="1"/>
          <p:nvPr/>
        </p:nvSpPr>
        <p:spPr>
          <a:xfrm>
            <a:off x="11550147" y="6541115"/>
            <a:ext cx="503170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r">
              <a:lnSpc>
                <a:spcPts val="2005"/>
              </a:lnSpc>
            </a:pPr>
            <a:fld id="{81D60167-4931-47E6-BA6A-407CBD079E47}" type="slidenum">
              <a:rPr sz="2000" b="0" dirty="0">
                <a:solidFill>
                  <a:schemeClr val="bg1"/>
                </a:solidFill>
                <a:latin typeface="Carlito"/>
                <a:cs typeface="Carlito"/>
              </a:rPr>
              <a:pPr marL="38100" algn="r">
                <a:lnSpc>
                  <a:spcPts val="2005"/>
                </a:lnSpc>
              </a:pPr>
              <a:t>‹#›</a:t>
            </a:fld>
            <a:endParaRPr sz="2000" b="0">
              <a:solidFill>
                <a:schemeClr val="bg1"/>
              </a:solidFill>
              <a:latin typeface="Carlito"/>
              <a:cs typeface="Carli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871E53-F9E9-7DB6-85B6-17427BDE4705}"/>
              </a:ext>
            </a:extLst>
          </p:cNvPr>
          <p:cNvSpPr txBox="1"/>
          <p:nvPr userDrawn="1"/>
        </p:nvSpPr>
        <p:spPr>
          <a:xfrm>
            <a:off x="10612582" y="580607"/>
            <a:ext cx="1524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i="0" dirty="0">
                <a:solidFill>
                  <a:srgbClr val="996600"/>
                </a:solidFill>
                <a:latin typeface="+mj-lt"/>
              </a:rPr>
              <a:t>#InformatikaBerkarakter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4C09B3-BB34-64D1-E47B-B7B281936B5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41441" y="1132251"/>
            <a:ext cx="5619127" cy="509419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Barlow" panose="000005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12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3A2BDE-12BB-F900-712F-F96EC883AD8D}"/>
              </a:ext>
            </a:extLst>
          </p:cNvPr>
          <p:cNvSpPr/>
          <p:nvPr/>
        </p:nvSpPr>
        <p:spPr>
          <a:xfrm>
            <a:off x="-1" y="6465866"/>
            <a:ext cx="11608875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2C421-7784-4726-746A-E07E07152EBB}"/>
              </a:ext>
            </a:extLst>
          </p:cNvPr>
          <p:cNvSpPr/>
          <p:nvPr/>
        </p:nvSpPr>
        <p:spPr>
          <a:xfrm>
            <a:off x="11550146" y="6465525"/>
            <a:ext cx="64007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Picture 10" descr="A black background with yellow and grey text&#10;&#10;AI-generated content may be incorrect.">
            <a:extLst>
              <a:ext uri="{FF2B5EF4-FFF2-40B4-BE49-F238E27FC236}">
                <a16:creationId xmlns:a16="http://schemas.microsoft.com/office/drawing/2014/main" id="{F805D3DF-0BD2-E106-4835-62B4F684037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29" y="102870"/>
            <a:ext cx="2072555" cy="518813"/>
          </a:xfrm>
          <a:prstGeom prst="rect">
            <a:avLst/>
          </a:prstGeom>
        </p:spPr>
      </p:pic>
      <p:pic>
        <p:nvPicPr>
          <p:cNvPr id="14" name="Picture 13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4D3A9714-2B74-F0EA-234A-D6B699B311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304" t="24482" r="5732" b="30000"/>
          <a:stretch>
            <a:fillRect/>
          </a:stretch>
        </p:blipFill>
        <p:spPr>
          <a:xfrm>
            <a:off x="10717984" y="104158"/>
            <a:ext cx="1347134" cy="4986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CD9928-02F2-4305-4297-A1DFB8AE0B9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419" y="6542270"/>
            <a:ext cx="4674331" cy="241006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8E71573-79C9-85D7-702E-E5556C375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379" y="119924"/>
            <a:ext cx="7629240" cy="77359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>
                <a:latin typeface="Fjalla One" panose="02000506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E232F74-C1C6-0B06-9C7A-D8EBDCF66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487" y="1140496"/>
            <a:ext cx="11608875" cy="509419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Barlow" panose="000005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8" name="Picture 17" descr="A logo with a red and black letter u&#10;&#10;AI-generated content may be incorrect.">
            <a:extLst>
              <a:ext uri="{FF2B5EF4-FFF2-40B4-BE49-F238E27FC236}">
                <a16:creationId xmlns:a16="http://schemas.microsoft.com/office/drawing/2014/main" id="{8662DFD3-DA5F-A647-A00E-E8306506F4D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duotone>
              <a:prstClr val="black"/>
              <a:schemeClr val="tx2">
                <a:tint val="45000"/>
                <a:satMod val="400000"/>
              </a:schemeClr>
            </a:duotone>
            <a:alphaModFix amt="1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7743" y="1427758"/>
            <a:ext cx="2836514" cy="4002484"/>
          </a:xfrm>
          <a:prstGeom prst="rect">
            <a:avLst/>
          </a:prstGeom>
        </p:spPr>
      </p:pic>
      <p:sp>
        <p:nvSpPr>
          <p:cNvPr id="21" name="object 82">
            <a:extLst>
              <a:ext uri="{FF2B5EF4-FFF2-40B4-BE49-F238E27FC236}">
                <a16:creationId xmlns:a16="http://schemas.microsoft.com/office/drawing/2014/main" id="{A293EC42-B8C9-FCB1-2E11-55A042217587}"/>
              </a:ext>
            </a:extLst>
          </p:cNvPr>
          <p:cNvSpPr txBox="1"/>
          <p:nvPr/>
        </p:nvSpPr>
        <p:spPr>
          <a:xfrm>
            <a:off x="11550147" y="6541115"/>
            <a:ext cx="503170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r">
              <a:lnSpc>
                <a:spcPts val="2005"/>
              </a:lnSpc>
            </a:pPr>
            <a:fld id="{81D60167-4931-47E6-BA6A-407CBD079E47}" type="slidenum">
              <a:rPr sz="2000" b="0" dirty="0">
                <a:solidFill>
                  <a:schemeClr val="bg1"/>
                </a:solidFill>
                <a:latin typeface="Carlito"/>
                <a:cs typeface="Carlito"/>
              </a:rPr>
              <a:pPr marL="38100" algn="r">
                <a:lnSpc>
                  <a:spcPts val="2005"/>
                </a:lnSpc>
              </a:pPr>
              <a:t>‹#›</a:t>
            </a:fld>
            <a:endParaRPr sz="2000" b="0">
              <a:solidFill>
                <a:schemeClr val="bg1"/>
              </a:solidFill>
              <a:latin typeface="Carlito"/>
              <a:cs typeface="Carli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871E53-F9E9-7DB6-85B6-17427BDE4705}"/>
              </a:ext>
            </a:extLst>
          </p:cNvPr>
          <p:cNvSpPr txBox="1"/>
          <p:nvPr userDrawn="1"/>
        </p:nvSpPr>
        <p:spPr>
          <a:xfrm>
            <a:off x="10612582" y="580607"/>
            <a:ext cx="1524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i="0" dirty="0">
                <a:solidFill>
                  <a:srgbClr val="996600"/>
                </a:solidFill>
                <a:latin typeface="+mj-lt"/>
              </a:rPr>
              <a:t>#InformatikaBerkarakter</a:t>
            </a:r>
          </a:p>
        </p:txBody>
      </p:sp>
    </p:spTree>
    <p:extLst>
      <p:ext uri="{BB962C8B-B14F-4D97-AF65-F5344CB8AC3E}">
        <p14:creationId xmlns:p14="http://schemas.microsoft.com/office/powerpoint/2010/main" val="92382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3A2BDE-12BB-F900-712F-F96EC883AD8D}"/>
              </a:ext>
            </a:extLst>
          </p:cNvPr>
          <p:cNvSpPr/>
          <p:nvPr/>
        </p:nvSpPr>
        <p:spPr>
          <a:xfrm>
            <a:off x="-1" y="6465866"/>
            <a:ext cx="11608875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2C421-7784-4726-746A-E07E07152EBB}"/>
              </a:ext>
            </a:extLst>
          </p:cNvPr>
          <p:cNvSpPr/>
          <p:nvPr/>
        </p:nvSpPr>
        <p:spPr>
          <a:xfrm>
            <a:off x="11550146" y="6465525"/>
            <a:ext cx="64007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Picture 10" descr="A black background with yellow and grey text&#10;&#10;AI-generated content may be incorrect.">
            <a:extLst>
              <a:ext uri="{FF2B5EF4-FFF2-40B4-BE49-F238E27FC236}">
                <a16:creationId xmlns:a16="http://schemas.microsoft.com/office/drawing/2014/main" id="{F805D3DF-0BD2-E106-4835-62B4F684037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29" y="102870"/>
            <a:ext cx="2072555" cy="518813"/>
          </a:xfrm>
          <a:prstGeom prst="rect">
            <a:avLst/>
          </a:prstGeom>
        </p:spPr>
      </p:pic>
      <p:pic>
        <p:nvPicPr>
          <p:cNvPr id="14" name="Picture 13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4D3A9714-2B74-F0EA-234A-D6B699B311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304" t="24482" r="5732" b="30000"/>
          <a:stretch>
            <a:fillRect/>
          </a:stretch>
        </p:blipFill>
        <p:spPr>
          <a:xfrm>
            <a:off x="10717984" y="104158"/>
            <a:ext cx="1347134" cy="4986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CD9928-02F2-4305-4297-A1DFB8AE0B9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419" y="6542270"/>
            <a:ext cx="4674331" cy="241006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8E71573-79C9-85D7-702E-E5556C375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379" y="119924"/>
            <a:ext cx="7629240" cy="77359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>
                <a:latin typeface="Fjalla One" panose="02000506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 descr="A logo with a red and black letter u&#10;&#10;AI-generated content may be incorrect.">
            <a:extLst>
              <a:ext uri="{FF2B5EF4-FFF2-40B4-BE49-F238E27FC236}">
                <a16:creationId xmlns:a16="http://schemas.microsoft.com/office/drawing/2014/main" id="{8662DFD3-DA5F-A647-A00E-E8306506F4D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duotone>
              <a:prstClr val="black"/>
              <a:schemeClr val="tx2">
                <a:tint val="45000"/>
                <a:satMod val="400000"/>
              </a:schemeClr>
            </a:duotone>
            <a:alphaModFix amt="1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215" y="1427758"/>
            <a:ext cx="2836514" cy="4002484"/>
          </a:xfrm>
          <a:prstGeom prst="rect">
            <a:avLst/>
          </a:prstGeom>
        </p:spPr>
      </p:pic>
      <p:sp>
        <p:nvSpPr>
          <p:cNvPr id="21" name="object 82">
            <a:extLst>
              <a:ext uri="{FF2B5EF4-FFF2-40B4-BE49-F238E27FC236}">
                <a16:creationId xmlns:a16="http://schemas.microsoft.com/office/drawing/2014/main" id="{A293EC42-B8C9-FCB1-2E11-55A042217587}"/>
              </a:ext>
            </a:extLst>
          </p:cNvPr>
          <p:cNvSpPr txBox="1"/>
          <p:nvPr/>
        </p:nvSpPr>
        <p:spPr>
          <a:xfrm>
            <a:off x="11550147" y="6541115"/>
            <a:ext cx="503170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r">
              <a:lnSpc>
                <a:spcPts val="2005"/>
              </a:lnSpc>
            </a:pPr>
            <a:fld id="{81D60167-4931-47E6-BA6A-407CBD079E47}" type="slidenum">
              <a:rPr sz="2000" b="0" dirty="0">
                <a:solidFill>
                  <a:schemeClr val="bg1"/>
                </a:solidFill>
                <a:latin typeface="Carlito"/>
                <a:cs typeface="Carlito"/>
              </a:rPr>
              <a:pPr marL="38100" algn="r">
                <a:lnSpc>
                  <a:spcPts val="2005"/>
                </a:lnSpc>
              </a:pPr>
              <a:t>‹#›</a:t>
            </a:fld>
            <a:endParaRPr sz="2000" b="0">
              <a:solidFill>
                <a:schemeClr val="bg1"/>
              </a:solidFill>
              <a:latin typeface="Carlito"/>
              <a:cs typeface="Carli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871E53-F9E9-7DB6-85B6-17427BDE4705}"/>
              </a:ext>
            </a:extLst>
          </p:cNvPr>
          <p:cNvSpPr txBox="1"/>
          <p:nvPr userDrawn="1"/>
        </p:nvSpPr>
        <p:spPr>
          <a:xfrm>
            <a:off x="10612582" y="580607"/>
            <a:ext cx="1524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i="0" dirty="0">
                <a:solidFill>
                  <a:srgbClr val="996600"/>
                </a:solidFill>
                <a:latin typeface="+mj-lt"/>
              </a:rPr>
              <a:t>#InformatikaBerkarakter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20D7B9-8E4D-E736-DEE6-AF70C6A45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913" y="1060991"/>
            <a:ext cx="3658134" cy="5182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B207DC-0C13-6AAB-AD53-3DF3D08D6A14}"/>
              </a:ext>
            </a:extLst>
          </p:cNvPr>
          <p:cNvCxnSpPr>
            <a:cxnSpLocks/>
          </p:cNvCxnSpPr>
          <p:nvPr userDrawn="1"/>
        </p:nvCxnSpPr>
        <p:spPr>
          <a:xfrm>
            <a:off x="4096844" y="1039103"/>
            <a:ext cx="0" cy="52043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C12274-88D3-63A2-DEE7-F2358EAC5AAD}"/>
              </a:ext>
            </a:extLst>
          </p:cNvPr>
          <p:cNvCxnSpPr>
            <a:cxnSpLocks/>
          </p:cNvCxnSpPr>
          <p:nvPr userDrawn="1"/>
        </p:nvCxnSpPr>
        <p:spPr>
          <a:xfrm>
            <a:off x="8032852" y="1039103"/>
            <a:ext cx="0" cy="52043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80015F1-F364-363F-D477-CE560B4ABD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35781" y="1050047"/>
            <a:ext cx="3658134" cy="5182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0873F22-E7E9-7AC2-F109-62F05151CC1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173649" y="1039103"/>
            <a:ext cx="3658134" cy="5182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1251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3A2BDE-12BB-F900-712F-F96EC883AD8D}"/>
              </a:ext>
            </a:extLst>
          </p:cNvPr>
          <p:cNvSpPr/>
          <p:nvPr/>
        </p:nvSpPr>
        <p:spPr>
          <a:xfrm>
            <a:off x="-1" y="6465866"/>
            <a:ext cx="11608875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2C421-7784-4726-746A-E07E07152EBB}"/>
              </a:ext>
            </a:extLst>
          </p:cNvPr>
          <p:cNvSpPr/>
          <p:nvPr/>
        </p:nvSpPr>
        <p:spPr>
          <a:xfrm>
            <a:off x="11550146" y="6465525"/>
            <a:ext cx="64007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Picture 10" descr="A black background with yellow and grey text&#10;&#10;AI-generated content may be incorrect.">
            <a:extLst>
              <a:ext uri="{FF2B5EF4-FFF2-40B4-BE49-F238E27FC236}">
                <a16:creationId xmlns:a16="http://schemas.microsoft.com/office/drawing/2014/main" id="{F805D3DF-0BD2-E106-4835-62B4F684037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29" y="102870"/>
            <a:ext cx="2072555" cy="518813"/>
          </a:xfrm>
          <a:prstGeom prst="rect">
            <a:avLst/>
          </a:prstGeom>
        </p:spPr>
      </p:pic>
      <p:pic>
        <p:nvPicPr>
          <p:cNvPr id="14" name="Picture 13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4D3A9714-2B74-F0EA-234A-D6B699B311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304" t="24482" r="5732" b="30000"/>
          <a:stretch>
            <a:fillRect/>
          </a:stretch>
        </p:blipFill>
        <p:spPr>
          <a:xfrm>
            <a:off x="10717984" y="104158"/>
            <a:ext cx="1347134" cy="4986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CD9928-02F2-4305-4297-A1DFB8AE0B9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419" y="6542270"/>
            <a:ext cx="4674331" cy="241006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8E71573-79C9-85D7-702E-E5556C375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379" y="119924"/>
            <a:ext cx="7629240" cy="77359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>
                <a:latin typeface="Fjalla One" panose="02000506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 descr="A logo with a red and black letter u&#10;&#10;AI-generated content may be incorrect.">
            <a:extLst>
              <a:ext uri="{FF2B5EF4-FFF2-40B4-BE49-F238E27FC236}">
                <a16:creationId xmlns:a16="http://schemas.microsoft.com/office/drawing/2014/main" id="{8662DFD3-DA5F-A647-A00E-E8306506F4D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duotone>
              <a:prstClr val="black"/>
              <a:schemeClr val="tx2">
                <a:tint val="45000"/>
                <a:satMod val="400000"/>
              </a:schemeClr>
            </a:duotone>
            <a:alphaModFix amt="1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7743" y="1427758"/>
            <a:ext cx="2836514" cy="4002484"/>
          </a:xfrm>
          <a:prstGeom prst="rect">
            <a:avLst/>
          </a:prstGeom>
        </p:spPr>
      </p:pic>
      <p:sp>
        <p:nvSpPr>
          <p:cNvPr id="21" name="object 82">
            <a:extLst>
              <a:ext uri="{FF2B5EF4-FFF2-40B4-BE49-F238E27FC236}">
                <a16:creationId xmlns:a16="http://schemas.microsoft.com/office/drawing/2014/main" id="{A293EC42-B8C9-FCB1-2E11-55A042217587}"/>
              </a:ext>
            </a:extLst>
          </p:cNvPr>
          <p:cNvSpPr txBox="1"/>
          <p:nvPr/>
        </p:nvSpPr>
        <p:spPr>
          <a:xfrm>
            <a:off x="11550147" y="6541115"/>
            <a:ext cx="503170" cy="260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algn="r">
              <a:lnSpc>
                <a:spcPts val="2005"/>
              </a:lnSpc>
            </a:pPr>
            <a:fld id="{81D60167-4931-47E6-BA6A-407CBD079E47}" type="slidenum">
              <a:rPr sz="2000" b="0" dirty="0">
                <a:solidFill>
                  <a:schemeClr val="bg1"/>
                </a:solidFill>
                <a:latin typeface="Carlito"/>
                <a:cs typeface="Carlito"/>
              </a:rPr>
              <a:pPr marL="38100" algn="r">
                <a:lnSpc>
                  <a:spcPts val="2005"/>
                </a:lnSpc>
              </a:pPr>
              <a:t>‹#›</a:t>
            </a:fld>
            <a:endParaRPr sz="2000" b="0">
              <a:solidFill>
                <a:schemeClr val="bg1"/>
              </a:solidFill>
              <a:latin typeface="Carlito"/>
              <a:cs typeface="Carli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871E53-F9E9-7DB6-85B6-17427BDE4705}"/>
              </a:ext>
            </a:extLst>
          </p:cNvPr>
          <p:cNvSpPr txBox="1"/>
          <p:nvPr userDrawn="1"/>
        </p:nvSpPr>
        <p:spPr>
          <a:xfrm>
            <a:off x="10612582" y="580607"/>
            <a:ext cx="1524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i="0" dirty="0">
                <a:solidFill>
                  <a:srgbClr val="996600"/>
                </a:solidFill>
                <a:latin typeface="+mj-lt"/>
              </a:rPr>
              <a:t>#InformatikaBerkarakter</a:t>
            </a:r>
          </a:p>
        </p:txBody>
      </p:sp>
    </p:spTree>
    <p:extLst>
      <p:ext uri="{BB962C8B-B14F-4D97-AF65-F5344CB8AC3E}">
        <p14:creationId xmlns:p14="http://schemas.microsoft.com/office/powerpoint/2010/main" val="1640726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ilding with a sign on it&#10;&#10;AI-generated content may be incorrect.">
            <a:extLst>
              <a:ext uri="{FF2B5EF4-FFF2-40B4-BE49-F238E27FC236}">
                <a16:creationId xmlns:a16="http://schemas.microsoft.com/office/drawing/2014/main" id="{3199F34F-32F1-064E-3921-8C39C1534D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2"/>
          <a:stretch>
            <a:fillRect/>
          </a:stretch>
        </p:blipFill>
        <p:spPr>
          <a:xfrm>
            <a:off x="0" y="2006600"/>
            <a:ext cx="4421298" cy="4851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A1F7EAD-E902-BD40-CE36-04488C3A70C4}"/>
              </a:ext>
            </a:extLst>
          </p:cNvPr>
          <p:cNvSpPr/>
          <p:nvPr/>
        </p:nvSpPr>
        <p:spPr>
          <a:xfrm flipV="1">
            <a:off x="0" y="5074919"/>
            <a:ext cx="12192000" cy="1783073"/>
          </a:xfrm>
          <a:prstGeom prst="rect">
            <a:avLst/>
          </a:prstGeom>
          <a:gradFill flip="none" rotWithShape="1">
            <a:gsLst>
              <a:gs pos="2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jalla One" panose="02000506040000020004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B8E06B0-0C20-3F94-5B91-81B628DF73BE}"/>
              </a:ext>
            </a:extLst>
          </p:cNvPr>
          <p:cNvGrpSpPr/>
          <p:nvPr/>
        </p:nvGrpSpPr>
        <p:grpSpPr>
          <a:xfrm>
            <a:off x="6096000" y="6528817"/>
            <a:ext cx="6126480" cy="658366"/>
            <a:chOff x="6566098" y="6529395"/>
            <a:chExt cx="5625902" cy="658365"/>
          </a:xfrm>
        </p:grpSpPr>
        <p:sp>
          <p:nvSpPr>
            <p:cNvPr id="10" name="Partial Circle 9">
              <a:extLst>
                <a:ext uri="{FF2B5EF4-FFF2-40B4-BE49-F238E27FC236}">
                  <a16:creationId xmlns:a16="http://schemas.microsoft.com/office/drawing/2014/main" id="{004E209E-AC79-0985-250F-E26F2559B545}"/>
                </a:ext>
              </a:extLst>
            </p:cNvPr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Fjalla One" panose="02000506040000020004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D43C20-B65B-16FB-C73D-71DF96B4E9A0}"/>
                </a:ext>
              </a:extLst>
            </p:cNvPr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Fjalla One" panose="02000506040000020004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395D80-5CCD-947B-7171-2F036A533208}"/>
              </a:ext>
            </a:extLst>
          </p:cNvPr>
          <p:cNvGrpSpPr/>
          <p:nvPr/>
        </p:nvGrpSpPr>
        <p:grpSpPr>
          <a:xfrm flipH="1">
            <a:off x="0" y="6527465"/>
            <a:ext cx="6126480" cy="658366"/>
            <a:chOff x="6566098" y="6529395"/>
            <a:chExt cx="5625902" cy="658365"/>
          </a:xfrm>
        </p:grpSpPr>
        <p:sp>
          <p:nvSpPr>
            <p:cNvPr id="13" name="Partial Circle 12">
              <a:extLst>
                <a:ext uri="{FF2B5EF4-FFF2-40B4-BE49-F238E27FC236}">
                  <a16:creationId xmlns:a16="http://schemas.microsoft.com/office/drawing/2014/main" id="{86AE163D-D4FE-52C2-74FD-88F787483851}"/>
                </a:ext>
              </a:extLst>
            </p:cNvPr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Fjalla One" panose="02000506040000020004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6B0687E-2535-24C6-5A07-69BC36F7327F}"/>
                </a:ext>
              </a:extLst>
            </p:cNvPr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Fjalla One" panose="02000506040000020004" pitchFamily="2" charset="0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2BC6F762-5981-234E-BC06-DD0DB449905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5456" y="6199634"/>
            <a:ext cx="5619271" cy="289727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D9E0989-B3FC-6699-1685-DD89CFC9A7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0544" y="1702118"/>
            <a:ext cx="6997585" cy="1726882"/>
          </a:xfrm>
          <a:prstGeom prst="rect">
            <a:avLst/>
          </a:prstGeom>
        </p:spPr>
        <p:txBody>
          <a:bodyPr/>
          <a:lstStyle>
            <a:lvl1pPr>
              <a:defRPr>
                <a:latin typeface="Fjalla One" panose="02000506040000020004" pitchFamily="2" charset="0"/>
              </a:defRPr>
            </a:lvl1pPr>
          </a:lstStyle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r>
              <a:rPr lang="en-US" dirty="0"/>
              <a:t>!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69EA522B-C504-2FC2-2440-114A7655F81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10544" y="3468456"/>
            <a:ext cx="6997585" cy="11975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400">
                <a:latin typeface="Fjalla One" panose="02000506040000020004" pitchFamily="2" charset="0"/>
              </a:defRPr>
            </a:lvl1pPr>
          </a:lstStyle>
          <a:p>
            <a:r>
              <a:rPr lang="en-US" dirty="0" err="1"/>
              <a:t>Fakultas</a:t>
            </a:r>
            <a:r>
              <a:rPr lang="en-US" dirty="0"/>
              <a:t> </a:t>
            </a:r>
            <a:r>
              <a:rPr lang="en-US" dirty="0" err="1"/>
              <a:t>Informatika</a:t>
            </a:r>
            <a:endParaRPr lang="en-US" dirty="0"/>
          </a:p>
          <a:p>
            <a:r>
              <a:rPr lang="en-US" dirty="0"/>
              <a:t>Universitas Telkom</a:t>
            </a:r>
          </a:p>
        </p:txBody>
      </p:sp>
      <p:pic>
        <p:nvPicPr>
          <p:cNvPr id="19" name="Picture 18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71CC565B-0D5A-484A-6006-C773CC5B8CD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974" y="223035"/>
            <a:ext cx="1009522" cy="34553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9CAB7D3-2285-15E6-CFA8-E361D675C025}"/>
              </a:ext>
            </a:extLst>
          </p:cNvPr>
          <p:cNvGrpSpPr/>
          <p:nvPr/>
        </p:nvGrpSpPr>
        <p:grpSpPr>
          <a:xfrm>
            <a:off x="9095083" y="113327"/>
            <a:ext cx="2709943" cy="503420"/>
            <a:chOff x="9320766" y="88308"/>
            <a:chExt cx="2709943" cy="503420"/>
          </a:xfrm>
        </p:grpSpPr>
        <p:pic>
          <p:nvPicPr>
            <p:cNvPr id="25" name="Picture 24" descr="A yellow text on a black background&#10;&#10;AI-generated content may be incorrect.">
              <a:extLst>
                <a:ext uri="{FF2B5EF4-FFF2-40B4-BE49-F238E27FC236}">
                  <a16:creationId xmlns:a16="http://schemas.microsoft.com/office/drawing/2014/main" id="{0F43EB1E-9021-F98A-5B79-2E59893B5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</p:spPr>
        </p:pic>
        <p:pic>
          <p:nvPicPr>
            <p:cNvPr id="26" name="Picture 25" descr="A person holding a microphone&#10;&#10;AI-generated content may be incorrect.">
              <a:extLst>
                <a:ext uri="{FF2B5EF4-FFF2-40B4-BE49-F238E27FC236}">
                  <a16:creationId xmlns:a16="http://schemas.microsoft.com/office/drawing/2014/main" id="{C95B85D1-0F28-70BF-000A-A9E33286B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20766" y="88308"/>
              <a:ext cx="1404190" cy="503420"/>
            </a:xfrm>
            <a:prstGeom prst="rect">
              <a:avLst/>
            </a:prstGeom>
          </p:spPr>
        </p:pic>
      </p:grpSp>
      <p:pic>
        <p:nvPicPr>
          <p:cNvPr id="21" name="Picture 20" descr="A black background with yellow and grey text&#10;&#10;AI-generated content may be incorrect.">
            <a:extLst>
              <a:ext uri="{FF2B5EF4-FFF2-40B4-BE49-F238E27FC236}">
                <a16:creationId xmlns:a16="http://schemas.microsoft.com/office/drawing/2014/main" id="{CEF29C67-E177-D2CA-1534-25E22A3F43C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2717" y="154187"/>
            <a:ext cx="1930400" cy="48322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C29B992-94FC-184B-DBDD-63B8B8732DF7}"/>
              </a:ext>
            </a:extLst>
          </p:cNvPr>
          <p:cNvGrpSpPr/>
          <p:nvPr userDrawn="1"/>
        </p:nvGrpSpPr>
        <p:grpSpPr>
          <a:xfrm>
            <a:off x="4421298" y="126998"/>
            <a:ext cx="3416617" cy="498680"/>
            <a:chOff x="4421298" y="126998"/>
            <a:chExt cx="3416617" cy="49868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BC469CD-F74E-C654-1267-16AB56B4ABF5}"/>
                </a:ext>
              </a:extLst>
            </p:cNvPr>
            <p:cNvSpPr txBox="1"/>
            <p:nvPr/>
          </p:nvSpPr>
          <p:spPr>
            <a:xfrm>
              <a:off x="5766211" y="222450"/>
              <a:ext cx="20717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i="0" dirty="0">
                  <a:solidFill>
                    <a:srgbClr val="996600"/>
                  </a:solidFill>
                  <a:latin typeface="+mj-lt"/>
                </a:rPr>
                <a:t>#InformatikaBerkarakter</a:t>
              </a:r>
            </a:p>
          </p:txBody>
        </p:sp>
        <p:pic>
          <p:nvPicPr>
            <p:cNvPr id="3" name="Picture 2" descr="A logo with a black background&#10;&#10;AI-generated content may be incorrect.">
              <a:extLst>
                <a:ext uri="{FF2B5EF4-FFF2-40B4-BE49-F238E27FC236}">
                  <a16:creationId xmlns:a16="http://schemas.microsoft.com/office/drawing/2014/main" id="{351EA200-87AA-0F57-DA8D-42FC936B16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304" t="24482" r="5732" b="30000"/>
            <a:stretch>
              <a:fillRect/>
            </a:stretch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1681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A753F14E-0012-100B-2FFA-43963FD11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3FDC42F-038C-70D2-42D9-5F20564D0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508B1691-8FC1-017B-3DCA-1D967393E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Barlow" panose="00000500000000000000" pitchFamily="2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9065FA9-5DF6-9117-F260-CF472A9A1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Barlow" panose="00000500000000000000" pitchFamily="2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39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9" r:id="rId3"/>
    <p:sldLayoutId id="2147483710" r:id="rId4"/>
    <p:sldLayoutId id="2147483712" r:id="rId5"/>
    <p:sldLayoutId id="214748370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jalla One" panose="02000506040000020004" pitchFamily="2" charset="0"/>
          <a:ea typeface="+mj-ea"/>
          <a:cs typeface="JasmineUPC" panose="020B0502040204020203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arlow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arlow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arlow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rlow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arlow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9F0D7-C376-C69C-C80D-2C3E3A6378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LoRa</a:t>
            </a:r>
            <a:r>
              <a:rPr lang="en-ID" dirty="0"/>
              <a:t>-Based Stable </a:t>
            </a:r>
            <a:r>
              <a:rPr lang="en-ID" dirty="0" err="1"/>
              <a:t>Difussion</a:t>
            </a:r>
            <a:r>
              <a:rPr lang="en-ID" dirty="0"/>
              <a:t> For Synthetic ADC and SCC Image Generation In Medical Education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0CAF5-6F47-BCE2-3821-D508CFDDA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0544" y="3863872"/>
            <a:ext cx="6997585" cy="1197565"/>
          </a:xfrm>
        </p:spPr>
        <p:txBody>
          <a:bodyPr>
            <a:noAutofit/>
          </a:bodyPr>
          <a:lstStyle/>
          <a:p>
            <a:r>
              <a:rPr lang="en-ID" sz="2000" dirty="0"/>
              <a:t>Final Project Proposal</a:t>
            </a:r>
          </a:p>
          <a:p>
            <a:r>
              <a:rPr lang="tr-TR" sz="1600" dirty="0"/>
              <a:t>Muhammad Han</a:t>
            </a:r>
            <a:r>
              <a:rPr lang="en-US" sz="1600" dirty="0"/>
              <a:t>if Pearlyaradja</a:t>
            </a:r>
            <a:endParaRPr lang="en-ID" sz="1600" dirty="0"/>
          </a:p>
          <a:p>
            <a:r>
              <a:rPr lang="en-ID" sz="1600" dirty="0"/>
              <a:t>103012340237</a:t>
            </a:r>
          </a:p>
          <a:p>
            <a:r>
              <a:rPr lang="en-ID" sz="1600" dirty="0"/>
              <a:t>IF-47-INT</a:t>
            </a:r>
          </a:p>
          <a:p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1438208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C5D73-A8D3-4C47-A864-16D0F9E8D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03F49-B62C-EBA8-38D3-A0933069F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D" b="1" dirty="0"/>
              <a:t>Background</a:t>
            </a:r>
          </a:p>
          <a:p>
            <a:r>
              <a:rPr lang="en-ID" dirty="0"/>
              <a:t>Lung cancer is one the most disease that caused death in the world according to GLOBOCAN 2022 </a:t>
            </a:r>
          </a:p>
          <a:p>
            <a:r>
              <a:rPr lang="en-ID" dirty="0"/>
              <a:t>The doctors must be able to differentiate between 2 types of lung cancer subtypes, namely ADC and SCC through the samples. </a:t>
            </a:r>
          </a:p>
          <a:p>
            <a:r>
              <a:rPr lang="en-ID" dirty="0"/>
              <a:t>Distinguishing those two cell under a microscope is very difficult due to the similar shape .</a:t>
            </a:r>
          </a:p>
          <a:p>
            <a:r>
              <a:rPr lang="en-ID" dirty="0"/>
              <a:t>AI technology may can help recognize cells, but AI needs thousands of sample.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24BAD-8ED7-1DA7-5BA3-5A6A07E4422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Research focus</a:t>
            </a:r>
          </a:p>
          <a:p>
            <a:pPr marL="0" indent="0">
              <a:buNone/>
            </a:pPr>
            <a:r>
              <a:rPr lang="en-ID" dirty="0"/>
              <a:t>Lung Cytology (ADC &amp; SCC)</a:t>
            </a:r>
            <a:br>
              <a:rPr lang="en-ID" dirty="0"/>
            </a:br>
            <a:r>
              <a:rPr lang="en-ID" dirty="0"/>
              <a:t>→ Synthetic Image Generation</a:t>
            </a:r>
            <a:br>
              <a:rPr lang="en-ID" dirty="0"/>
            </a:br>
            <a:r>
              <a:rPr lang="en-ID" dirty="0"/>
              <a:t>→ Stable Diffusion v1.5</a:t>
            </a:r>
            <a:br>
              <a:rPr lang="en-ID" dirty="0"/>
            </a:br>
            <a:r>
              <a:rPr lang="en-ID" dirty="0"/>
              <a:t>→ Low-Rank Adaptation (</a:t>
            </a:r>
            <a:r>
              <a:rPr lang="en-ID" dirty="0" err="1"/>
              <a:t>LoRa</a:t>
            </a:r>
            <a:r>
              <a:rPr lang="en-ID" dirty="0"/>
              <a:t>)</a:t>
            </a:r>
            <a:br>
              <a:rPr lang="en-ID" dirty="0"/>
            </a:br>
            <a:r>
              <a:rPr lang="en-ID" dirty="0"/>
              <a:t>→ Evaluation (FID &amp; KID)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336058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1E532-76AF-46F6-7F9D-A014235E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Dataset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803E3-443A-7504-2C42-CF1684010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101" y="1140496"/>
            <a:ext cx="5619127" cy="50941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b="1" dirty="0"/>
              <a:t>Research Problem</a:t>
            </a:r>
          </a:p>
          <a:p>
            <a:pPr marL="0" indent="0">
              <a:buNone/>
            </a:pPr>
            <a:r>
              <a:rPr lang="en-ID" dirty="0"/>
              <a:t>The clinical lung cancer cytology dataset provides labelled cell images, but it has several challenges:</a:t>
            </a:r>
          </a:p>
          <a:p>
            <a:r>
              <a:rPr lang="en-ID" dirty="0"/>
              <a:t>Extremely small sample size (only 417 images)</a:t>
            </a:r>
          </a:p>
          <a:p>
            <a:r>
              <a:rPr lang="en-ID" dirty="0"/>
              <a:t>Severe class imbalance (approx. 10:1 ratio)</a:t>
            </a:r>
          </a:p>
          <a:p>
            <a:r>
              <a:rPr lang="en-ID" dirty="0"/>
              <a:t>Minority cell classes are difficult to synthesize</a:t>
            </a:r>
          </a:p>
          <a:p>
            <a:r>
              <a:rPr lang="en-ID" dirty="0"/>
              <a:t>Subtle and ambiguous morphological features</a:t>
            </a:r>
          </a:p>
          <a:p>
            <a:pPr marL="0" indent="0">
              <a:buNone/>
            </a:pPr>
            <a:endParaRPr lang="en-ID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D649C0-CDFA-C080-3671-102AC8CF5D22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077347" y="1804018"/>
            <a:ext cx="5820166" cy="287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85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4441-8290-D596-2242-1A2685ED9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Problem Formulation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955C2-4E0B-6EC3-6402-A15B1E54F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b="1" dirty="0"/>
              <a:t>Problem Formulation</a:t>
            </a:r>
          </a:p>
          <a:p>
            <a:pPr marL="514350" indent="-514350">
              <a:buAutoNum type="arabicPeriod"/>
            </a:pPr>
            <a:r>
              <a:rPr lang="en-ID" dirty="0"/>
              <a:t>How can stable diffusion v1.5 be fine-tuned via </a:t>
            </a:r>
            <a:r>
              <a:rPr lang="en-ID" dirty="0" err="1"/>
              <a:t>LoRa</a:t>
            </a:r>
            <a:r>
              <a:rPr lang="en-ID" dirty="0"/>
              <a:t> under an image-to-image framework to produce realistic lung cytological features from a highly limited dataset ? </a:t>
            </a:r>
          </a:p>
          <a:p>
            <a:pPr marL="514350" indent="-514350">
              <a:buAutoNum type="arabicPeriod"/>
            </a:pPr>
            <a:r>
              <a:rPr lang="en-ID" dirty="0"/>
              <a:t>To what do degree do generated images meet </a:t>
            </a:r>
            <a:r>
              <a:rPr lang="en-ID" dirty="0" err="1"/>
              <a:t>quantitatives</a:t>
            </a:r>
            <a:r>
              <a:rPr lang="en-ID" dirty="0"/>
              <a:t> standards (FID &amp; KID) to act as valid educational visual assets?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CCB5F-82C2-233C-6DC7-8D994652EF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b="1" dirty="0"/>
              <a:t>Objectives</a:t>
            </a:r>
          </a:p>
          <a:p>
            <a:r>
              <a:rPr lang="en-ID" dirty="0"/>
              <a:t>Develop and implement a structurally conditioned latent diffusion model with low-rank adapters to address clinical specimen scarcity</a:t>
            </a:r>
          </a:p>
          <a:p>
            <a:r>
              <a:rPr lang="en-ID" dirty="0"/>
              <a:t>Evaluate distribution similarity against the ground truth using unbiased quantitative measurement to validate medical training utility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74769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D1CB-B82D-3696-9DED-DDCD2461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Proposed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845E6-9B92-4B6E-A18B-37EACD014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D" b="1" dirty="0"/>
              <a:t>Proposed Workflow</a:t>
            </a:r>
          </a:p>
          <a:p>
            <a:r>
              <a:rPr lang="en-ID" b="1" dirty="0" err="1"/>
              <a:t>Preprocessing</a:t>
            </a:r>
            <a:r>
              <a:rPr lang="en-ID" b="1" dirty="0"/>
              <a:t> :</a:t>
            </a:r>
            <a:r>
              <a:rPr lang="en-ID" dirty="0"/>
              <a:t> </a:t>
            </a:r>
            <a:r>
              <a:rPr lang="en-ID" dirty="0" err="1"/>
              <a:t>Standarize</a:t>
            </a:r>
            <a:r>
              <a:rPr lang="en-ID" dirty="0"/>
              <a:t> images to 512x512 </a:t>
            </a:r>
            <a:r>
              <a:rPr lang="en-ID" dirty="0" err="1"/>
              <a:t>pixels,normalize</a:t>
            </a:r>
            <a:r>
              <a:rPr lang="en-ID" dirty="0"/>
              <a:t> values to [-1,1], and prepare basic augmentations</a:t>
            </a:r>
          </a:p>
          <a:p>
            <a:r>
              <a:rPr lang="en-ID" b="1" dirty="0"/>
              <a:t>Condition Maps : </a:t>
            </a:r>
            <a:r>
              <a:rPr lang="en-ID" dirty="0"/>
              <a:t>Extract spatial structural edges and nuclear boundaries to act as </a:t>
            </a:r>
            <a:r>
              <a:rPr lang="en-ID" dirty="0" err="1"/>
              <a:t>exlicit</a:t>
            </a:r>
            <a:r>
              <a:rPr lang="en-ID" dirty="0"/>
              <a:t> shape </a:t>
            </a:r>
            <a:r>
              <a:rPr lang="en-ID" dirty="0" err="1"/>
              <a:t>guidances</a:t>
            </a:r>
            <a:r>
              <a:rPr lang="en-ID" dirty="0"/>
              <a:t> cues.</a:t>
            </a:r>
          </a:p>
          <a:p>
            <a:r>
              <a:rPr lang="en-ID" b="1" dirty="0" err="1"/>
              <a:t>LoRa</a:t>
            </a:r>
            <a:r>
              <a:rPr lang="en-ID" b="1" dirty="0"/>
              <a:t> Fine-Tuning :</a:t>
            </a:r>
            <a:r>
              <a:rPr lang="en-ID" dirty="0"/>
              <a:t> </a:t>
            </a:r>
            <a:r>
              <a:rPr lang="en-ID" dirty="0" err="1"/>
              <a:t>Excecute</a:t>
            </a:r>
            <a:r>
              <a:rPr lang="en-ID" dirty="0"/>
              <a:t> class-wise parameter-efficient training separately on U-net attention layers</a:t>
            </a:r>
          </a:p>
          <a:p>
            <a:r>
              <a:rPr lang="en-ID" b="1" dirty="0"/>
              <a:t>Generation &amp; Metrics :</a:t>
            </a:r>
            <a:r>
              <a:rPr lang="en-ID" dirty="0"/>
              <a:t> Synthesize 20 - 100 images per class and compute FID and KID relative to original</a:t>
            </a:r>
            <a:endParaRPr lang="en-ID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C4CCD5-5848-00C0-0A2F-53941DB0B2D1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7599407" y="893514"/>
            <a:ext cx="3209496" cy="550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60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8C73D35-D0FF-014D-8E82-668A4E00D50E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7614492" y="2368031"/>
            <a:ext cx="7993948" cy="1433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19F28B-6F93-B9F3-D2D7-88E4CA61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380" y="236512"/>
            <a:ext cx="7629240" cy="773590"/>
          </a:xfrm>
        </p:spPr>
        <p:txBody>
          <a:bodyPr>
            <a:normAutofit/>
          </a:bodyPr>
          <a:lstStyle/>
          <a:p>
            <a:r>
              <a:rPr lang="en-ID" dirty="0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2458A-1BF1-BCDB-9FD3-C89D560F0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D" b="1" dirty="0"/>
              <a:t>Research Problem</a:t>
            </a:r>
          </a:p>
          <a:p>
            <a:pPr marL="0" indent="0">
              <a:buNone/>
            </a:pPr>
            <a:r>
              <a:rPr lang="en-ID" dirty="0"/>
              <a:t>Our methodology leverages Image-to-image translation guided by structural cell masks:</a:t>
            </a:r>
          </a:p>
          <a:p>
            <a:r>
              <a:rPr lang="en-ID" dirty="0"/>
              <a:t>Latent Space Denoising : Operates inside compressed spaces via pre-trained VAE to optimize memory.</a:t>
            </a:r>
          </a:p>
          <a:p>
            <a:r>
              <a:rPr lang="en-ID" dirty="0"/>
              <a:t>Domain Anchor Prompting : Fixes laboratory </a:t>
            </a:r>
            <a:r>
              <a:rPr lang="en-ID" dirty="0" err="1"/>
              <a:t>stainig</a:t>
            </a:r>
            <a:r>
              <a:rPr lang="en-ID" dirty="0"/>
              <a:t> styles via static background guidance commands.</a:t>
            </a:r>
          </a:p>
          <a:p>
            <a:r>
              <a:rPr lang="en-ID" dirty="0"/>
              <a:t>Structural Preservation : Preserves complex sub-cellular structures via conditioning networks.</a:t>
            </a:r>
          </a:p>
        </p:txBody>
      </p:sp>
    </p:spTree>
    <p:extLst>
      <p:ext uri="{BB962C8B-B14F-4D97-AF65-F5344CB8AC3E}">
        <p14:creationId xmlns:p14="http://schemas.microsoft.com/office/powerpoint/2010/main" val="2706358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042BD-D0C5-066F-DDF4-28E47D2B1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LoRa</a:t>
            </a:r>
            <a:r>
              <a:rPr lang="en-ID" dirty="0"/>
              <a:t> Fine-Tuning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8D5BF-8F71-D9B4-86FE-AFB653BC0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ID" i="1" dirty="0"/>
          </a:p>
          <a:p>
            <a:pPr marL="0" indent="0">
              <a:buNone/>
            </a:pPr>
            <a:r>
              <a:rPr lang="en-ID" dirty="0"/>
              <a:t>We lock base model weights and only train two low-rank matrices to captures cytological structural patterns:</a:t>
            </a:r>
          </a:p>
          <a:p>
            <a:pPr marL="0" indent="0">
              <a:buNone/>
            </a:pPr>
            <a:endParaRPr lang="en-ID" b="1" i="1" dirty="0"/>
          </a:p>
          <a:p>
            <a:pPr marL="0" indent="0">
              <a:buNone/>
            </a:pPr>
            <a:r>
              <a:rPr lang="en-ID" dirty="0"/>
              <a:t>Hardware Eff</a:t>
            </a:r>
            <a:r>
              <a:rPr lang="en-US" dirty="0" err="1"/>
              <a:t>iciency</a:t>
            </a:r>
            <a:r>
              <a:rPr lang="en-US" dirty="0"/>
              <a:t>: Reduces trainable parameters from 860 million to only ~3-5 million. This </a:t>
            </a:r>
            <a:r>
              <a:rPr lang="en-US" dirty="0" err="1"/>
              <a:t>severly</a:t>
            </a:r>
            <a:r>
              <a:rPr lang="en-US" dirty="0"/>
              <a:t> lowers overfitting risks when training on our highly limited SCC dataset.</a:t>
            </a:r>
            <a:endParaRPr lang="en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451E74D-EC73-1E08-99D5-F6CB853940FD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095999" y="1224994"/>
            <a:ext cx="5618163" cy="323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7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267B2-8CD1-F9E7-0DBE-A4ADB68A4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Evaluation Metrics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AFC9A0-2AE4-9605-5714-62908A7506B1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255641" y="1131888"/>
            <a:ext cx="5590980" cy="50942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D1CB-1EF6-F43A-F43A-ACDEEAFBF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D" dirty="0"/>
              <a:t>To objectively ensure synthetic cells model biological ground </a:t>
            </a:r>
            <a:r>
              <a:rPr lang="en-ID" dirty="0" err="1"/>
              <a:t>truts</a:t>
            </a:r>
            <a:r>
              <a:rPr lang="en-ID" dirty="0"/>
              <a:t> accurately, generated feature distribution are measured via standard computer vision metric:</a:t>
            </a:r>
          </a:p>
          <a:p>
            <a:r>
              <a:rPr lang="en-ID" b="1" dirty="0" err="1"/>
              <a:t>Frechet</a:t>
            </a:r>
            <a:r>
              <a:rPr lang="en-ID" b="1" dirty="0"/>
              <a:t> Inception Distance (FID): </a:t>
            </a:r>
            <a:r>
              <a:rPr lang="en-ID" dirty="0"/>
              <a:t>Compute the wassertein-2 distance between feature distribution of original synthetic images, scores from 10-40 are validated as highly acceptable for medical imaging tasks.</a:t>
            </a:r>
          </a:p>
          <a:p>
            <a:r>
              <a:rPr lang="en-ID" b="1" dirty="0"/>
              <a:t>Kernel Inception Distance: </a:t>
            </a:r>
            <a:r>
              <a:rPr lang="en-ID" dirty="0"/>
              <a:t>Utilize </a:t>
            </a:r>
            <a:r>
              <a:rPr lang="en-ID" dirty="0" err="1"/>
              <a:t>polynomical</a:t>
            </a:r>
            <a:r>
              <a:rPr lang="en-ID" dirty="0"/>
              <a:t> Maximum Mean </a:t>
            </a:r>
            <a:r>
              <a:rPr lang="en-ID" dirty="0" err="1"/>
              <a:t>Discepancy</a:t>
            </a:r>
            <a:r>
              <a:rPr lang="en-ID" dirty="0"/>
              <a:t> (MMD). Crucially, KID functions as an unbiased estimator, making it exceptionally reliable on small minority sets (such as our 39-sample SCC class) where FID calculations become mathematically unstable.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69736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A6456-E774-2975-2BF9-BE93DA58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Expected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8A96C-6C8D-4F10-A8D0-862E9626A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D" b="1" dirty="0"/>
              <a:t>Expected Contributions</a:t>
            </a:r>
          </a:p>
          <a:p>
            <a:r>
              <a:rPr lang="en-ID" b="1" dirty="0"/>
              <a:t>Imbalance Resolution : </a:t>
            </a:r>
            <a:r>
              <a:rPr lang="en-ID" dirty="0"/>
              <a:t>Balances clinical cytological sample classes by delivering 20-100 high-fidelity synthetic SCC images. </a:t>
            </a:r>
          </a:p>
          <a:p>
            <a:r>
              <a:rPr lang="en-ID" b="1" dirty="0"/>
              <a:t>Educational Assets : </a:t>
            </a:r>
            <a:r>
              <a:rPr lang="en-ID" dirty="0"/>
              <a:t>Empowers medical student with high-resolution visual specimens or rare cancer phenotypes</a:t>
            </a:r>
            <a:r>
              <a:rPr lang="en-ID" i="1" dirty="0"/>
              <a:t>.</a:t>
            </a:r>
          </a:p>
          <a:p>
            <a:r>
              <a:rPr lang="en-ID" dirty="0"/>
              <a:t>HIPAA &amp; Privacy Ease : Provides fully synthetic training data with zero patient identification or data sharing </a:t>
            </a:r>
            <a:r>
              <a:rPr lang="en-ID" dirty="0" err="1"/>
              <a:t>constainst</a:t>
            </a:r>
            <a:r>
              <a:rPr lang="en-ID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E4CD0-BED6-0520-2F1D-08D9BF0A0D8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Stable Diffusion &amp; </a:t>
            </a:r>
            <a:r>
              <a:rPr lang="en-ID" dirty="0" err="1"/>
              <a:t>LoRa</a:t>
            </a:r>
            <a:br>
              <a:rPr lang="en-ID" dirty="0"/>
            </a:br>
            <a:r>
              <a:rPr lang="en-ID" dirty="0"/>
              <a:t>→ Latent Space denoising</a:t>
            </a:r>
            <a:br>
              <a:rPr lang="en-ID" dirty="0"/>
            </a:br>
            <a:r>
              <a:rPr lang="en-ID" dirty="0"/>
              <a:t>→ </a:t>
            </a:r>
            <a:r>
              <a:rPr lang="en-ID" dirty="0" err="1"/>
              <a:t>Sythetic</a:t>
            </a:r>
            <a:r>
              <a:rPr lang="en-ID" dirty="0"/>
              <a:t> Cytology</a:t>
            </a:r>
            <a:br>
              <a:rPr lang="en-ID" dirty="0"/>
            </a:br>
            <a:r>
              <a:rPr lang="en-ID" dirty="0"/>
              <a:t>→ 2 Classes</a:t>
            </a:r>
          </a:p>
        </p:txBody>
      </p:sp>
    </p:spTree>
    <p:extLst>
      <p:ext uri="{BB962C8B-B14F-4D97-AF65-F5344CB8AC3E}">
        <p14:creationId xmlns:p14="http://schemas.microsoft.com/office/powerpoint/2010/main" val="4187372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0B3B5-6B30-747A-DD85-A186B89E1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D" b="1" dirty="0"/>
              <a:t>Conclusion</a:t>
            </a:r>
          </a:p>
          <a:p>
            <a:r>
              <a:rPr lang="en-ID" dirty="0"/>
              <a:t>This proposal focuses on:</a:t>
            </a:r>
          </a:p>
          <a:p>
            <a:r>
              <a:rPr lang="en-ID" dirty="0"/>
              <a:t>Cell morphological complexity </a:t>
            </a:r>
          </a:p>
          <a:p>
            <a:r>
              <a:rPr lang="en-ID" dirty="0"/>
              <a:t>Extreme clinical class imbalance </a:t>
            </a:r>
          </a:p>
          <a:p>
            <a:r>
              <a:rPr lang="en-ID" dirty="0"/>
              <a:t>Parameter-efficient training </a:t>
            </a:r>
          </a:p>
          <a:p>
            <a:r>
              <a:rPr lang="en-ID" dirty="0"/>
              <a:t>Synthetic cytological generation </a:t>
            </a:r>
          </a:p>
          <a:p>
            <a:pPr marL="0" indent="0">
              <a:buNone/>
            </a:pPr>
            <a:r>
              <a:rPr lang="en-ID" b="1" dirty="0"/>
              <a:t>Proposed pipeline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Lung Cytology Dataset</a:t>
            </a:r>
            <a:br>
              <a:rPr lang="en-ID" dirty="0"/>
            </a:br>
            <a:r>
              <a:rPr lang="en-ID" dirty="0"/>
              <a:t>→ Preprocessing</a:t>
            </a:r>
            <a:br>
              <a:rPr lang="en-ID" dirty="0"/>
            </a:br>
            <a:r>
              <a:rPr lang="en-ID" dirty="0"/>
              <a:t>→ Stable Diffusion v1.5</a:t>
            </a:r>
            <a:br>
              <a:rPr lang="en-ID" dirty="0"/>
            </a:br>
            <a:r>
              <a:rPr lang="en-ID" dirty="0"/>
              <a:t>→ Low-Rank Adaptation (</a:t>
            </a:r>
            <a:r>
              <a:rPr lang="en-ID" dirty="0" err="1"/>
              <a:t>LoRa</a:t>
            </a:r>
            <a:r>
              <a:rPr lang="en-ID" dirty="0"/>
              <a:t>)</a:t>
            </a:r>
            <a:br>
              <a:rPr lang="en-ID" dirty="0"/>
            </a:br>
            <a:r>
              <a:rPr lang="en-ID" dirty="0"/>
              <a:t>→ Synthetic Generation</a:t>
            </a:r>
            <a:br>
              <a:rPr lang="en-ID" dirty="0"/>
            </a:br>
            <a:r>
              <a:rPr lang="en-ID" dirty="0"/>
              <a:t>→ Evaluation (FID &amp; KID)</a:t>
            </a:r>
          </a:p>
          <a:p>
            <a:pPr marL="0" indent="0">
              <a:buNone/>
            </a:pPr>
            <a:endParaRPr lang="en-ID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9A56A-A397-132C-83EC-68EFD1F934E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913614" y="2731647"/>
            <a:ext cx="5619127" cy="1394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b="1" dirty="0"/>
              <a:t>THANK YOU</a:t>
            </a:r>
            <a:endParaRPr lang="en-ID" sz="8000" b="1" dirty="0"/>
          </a:p>
        </p:txBody>
      </p:sp>
    </p:spTree>
    <p:extLst>
      <p:ext uri="{BB962C8B-B14F-4D97-AF65-F5344CB8AC3E}">
        <p14:creationId xmlns:p14="http://schemas.microsoft.com/office/powerpoint/2010/main" val="7562692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UNCLASSIFIED"/>
  <p:tag name="BJHEADERFOOTERTEXTMARKING" val="UNCLASSIFIED"/>
</p:tagLst>
</file>

<file path=ppt/theme/theme1.xml><?xml version="1.0" encoding="utf-8"?>
<a:theme xmlns:a="http://schemas.openxmlformats.org/drawingml/2006/main" name="Template PPT FIF Official Update September 2025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2025252-e2a3-47d1-b305-cee2187f8df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" ma:contentTypeID="0x0101001A0F5094243DD24E800BC1D3138E4AC9" ma:contentTypeVersion="18" ma:contentTypeDescription="Buat sebuah dokumen baru." ma:contentTypeScope="" ma:versionID="0f106d29c545a7fb4dea9e827f62b240">
  <xsd:schema xmlns:xsd="http://www.w3.org/2001/XMLSchema" xmlns:xs="http://www.w3.org/2001/XMLSchema" xmlns:p="http://schemas.microsoft.com/office/2006/metadata/properties" xmlns:ns3="02025252-e2a3-47d1-b305-cee2187f8df0" xmlns:ns4="e535c5b1-8524-4ab3-9d34-81039d14f580" targetNamespace="http://schemas.microsoft.com/office/2006/metadata/properties" ma:root="true" ma:fieldsID="4bae1c5e6d667d10404116859b7d7bc5" ns3:_="" ns4:_="">
    <xsd:import namespace="02025252-e2a3-47d1-b305-cee2187f8df0"/>
    <xsd:import namespace="e535c5b1-8524-4ab3-9d34-81039d14f5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025252-e2a3-47d1-b305-cee2187f8d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35c5b1-8524-4ab3-9d34-81039d14f5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ibagikan Denga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ibagikan Dengan Detail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Berbagi Hash Petunjuk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e Isi"/>
        <xsd:element ref="dc:title" minOccurs="0" maxOccurs="1" ma:index="4" ma:displayName="Judu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sisl xmlns:xsd="http://www.w3.org/2001/XMLSchema" xmlns:xsi="http://www.w3.org/2001/XMLSchema-instance" xmlns="http://www.boldonjames.com/2008/01/sie/internal/label" sislVersion="0" policy="3b2a402a-7aa0-470f-8732-c65458ab17ee" origin="userSelected">
  <element uid="1da1ef8b-1d0d-454b-a77a-d35062608318" value=""/>
</sisl>
</file>

<file path=customXml/itemProps1.xml><?xml version="1.0" encoding="utf-8"?>
<ds:datastoreItem xmlns:ds="http://schemas.openxmlformats.org/officeDocument/2006/customXml" ds:itemID="{BB84DF28-594D-4B23-98D2-C5BA659C92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F7252E-281F-4650-BF19-000393228E27}">
  <ds:schemaRefs>
    <ds:schemaRef ds:uri="http://schemas.microsoft.com/office/2006/documentManagement/types"/>
    <ds:schemaRef ds:uri="http://www.w3.org/XML/1998/namespace"/>
    <ds:schemaRef ds:uri="http://purl.org/dc/elements/1.1/"/>
    <ds:schemaRef ds:uri="e535c5b1-8524-4ab3-9d34-81039d14f580"/>
    <ds:schemaRef ds:uri="http://schemas.microsoft.com/office/2006/metadata/properties"/>
    <ds:schemaRef ds:uri="http://purl.org/dc/terms/"/>
    <ds:schemaRef ds:uri="http://schemas.microsoft.com/office/infopath/2007/PartnerControls"/>
    <ds:schemaRef ds:uri="02025252-e2a3-47d1-b305-cee2187f8df0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86D9491-AF7C-4BF3-8E4F-EDADBF2C7A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025252-e2a3-47d1-b305-cee2187f8df0"/>
    <ds:schemaRef ds:uri="e535c5b1-8524-4ab3-9d34-81039d14f5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3A21CB41-FC85-4EEA-B13A-3CB54F3E1ADE}">
  <ds:schemaRefs>
    <ds:schemaRef ds:uri="http://www.w3.org/2001/XMLSchema"/>
    <ds:schemaRef ds:uri="http://www.boldonjames.com/2008/01/sie/internal/label"/>
  </ds:schemaRefs>
</ds:datastoreItem>
</file>

<file path=docMetadata/LabelInfo.xml><?xml version="1.0" encoding="utf-8"?>
<clbl:labelList xmlns:clbl="http://schemas.microsoft.com/office/2020/mipLabelMetadata">
  <clbl:label id="{90affe0f-c2a3-4108-bb98-6ceb4e94ef15}" enabled="0" method="" siteId="{90affe0f-c2a3-4108-bb98-6ceb4e94ef1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 PPT FIF Official Update September 2025</Template>
  <TotalTime>4929</TotalTime>
  <Words>665</Words>
  <Application>Microsoft Office PowerPoint</Application>
  <PresentationFormat>Widescreen</PresentationFormat>
  <Paragraphs>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Aptos Display</vt:lpstr>
      <vt:lpstr>Arial</vt:lpstr>
      <vt:lpstr>Barlow</vt:lpstr>
      <vt:lpstr>Calibri</vt:lpstr>
      <vt:lpstr>Carlito</vt:lpstr>
      <vt:lpstr>Fjalla One</vt:lpstr>
      <vt:lpstr>JasmineUPC</vt:lpstr>
      <vt:lpstr>Template PPT FIF Official Update September 2025</vt:lpstr>
      <vt:lpstr>LoRa-Based Stable Difussion For Synthetic ADC and SCC Image Generation In Medical Education</vt:lpstr>
      <vt:lpstr>Background</vt:lpstr>
      <vt:lpstr>Dataset Challenge</vt:lpstr>
      <vt:lpstr>Problem Formulation and Objectives</vt:lpstr>
      <vt:lpstr>Proposed Workflow</vt:lpstr>
      <vt:lpstr>Model Architecture</vt:lpstr>
      <vt:lpstr>LoRa Fine-Tuning </vt:lpstr>
      <vt:lpstr>Evaluation Metrics</vt:lpstr>
      <vt:lpstr>Expected Contribution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LoRa-Based Stable Difussion For Synthetic ADC and SCC Image Generation In Medical Education</dc:title>
  <dc:subject/>
  <dc:creator>Kemas Muslim</dc:creator>
  <cp:keywords/>
  <dc:description>generated using python-pptx</dc:description>
  <cp:lastModifiedBy>Muhammad Hanif Pearlyaradja (Tusaş - Türk Havacılık Ve Uzay Sanayi A.ş.)</cp:lastModifiedBy>
  <cp:revision>306</cp:revision>
  <dcterms:created xsi:type="dcterms:W3CDTF">2013-01-27T09:14:16Z</dcterms:created>
  <dcterms:modified xsi:type="dcterms:W3CDTF">2026-06-24T13:02:19Z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0x0101001A0F5094243DD24E800BC1D3138E4AC9</vt:lpwstr>
  </property>
  <property fmtid="{D5CDD505-2E9C-101B-9397-08002B2CF9AE}" pid="3" name="docIndexRef">
    <vt:lpwstr>391e3876-7c06-47aa-95a8-1bc46250c3f0</vt:lpwstr>
  </property>
  <property fmtid="{D5CDD505-2E9C-101B-9397-08002B2CF9AE}" pid="4" name="bjClsUserRVM">
    <vt:lpwstr>[]</vt:lpwstr>
  </property>
  <property fmtid="{D5CDD505-2E9C-101B-9397-08002B2CF9AE}" pid="5" name="bjSaver">
    <vt:lpwstr>nxNOkfhtINx4ZXbd/sQjq7zv8fAbnr+l</vt:lpwstr>
  </property>
  <property fmtid="{D5CDD505-2E9C-101B-9397-08002B2CF9AE}" pid="6" name="bjDocumentLabelXML">
    <vt:lpwstr>&lt;?xml version="1.0" encoding="us-ascii"?&gt;&lt;sisl xmlns:xsd="http://www.w3.org/2001/XMLSchema" xmlns:xsi="http://www.w3.org/2001/XMLSchema-instance" sislVersion="0" policy="3b2a402a-7aa0-470f-8732-c65458ab17ee" origin="userSelected" xmlns="http://www.boldonj</vt:lpwstr>
  </property>
  <property fmtid="{D5CDD505-2E9C-101B-9397-08002B2CF9AE}" pid="7" name="bjDocumentLabelXML-0">
    <vt:lpwstr>ames.com/2008/01/sie/internal/label"&gt;&lt;element uid="1da1ef8b-1d0d-454b-a77a-d35062608318" value="" /&gt;&lt;/sisl&gt;</vt:lpwstr>
  </property>
  <property fmtid="{D5CDD505-2E9C-101B-9397-08002B2CF9AE}" pid="8" name="bjDocumentSecurityLabel">
    <vt:lpwstr>UNCLASSIFIED</vt:lpwstr>
  </property>
</Properties>
</file>